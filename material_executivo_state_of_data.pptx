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7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434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2E2E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 •  DATA ANALYTICS  •  FIAP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Brasileiro de Dados </a:t>
            </a:r>
          </a:p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3 Anos de Pesquisa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análise de 14.005 respostas do State of Data Brazil (2023-2024, 2024-2025 e 2025-2026) para orientar decisões de contratação, capacitação e investimento em Dados e IA.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Executivo  |  Storytelling da Análise e do Pipeline de Dados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DE NEGÓCIO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Expandir Dados e IA exige entender o mercado antes de contratar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instituição financeira de grande porte quer expandir sua área de Dados, Analytics e IA — mas contratar, capacitar e investir às cegas custa caro.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State of Data Brazil, com edições anuais desde 2021, é a fonte mais completa sobre o perfil desses profissionais no Brasil.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920240"/>
            <a:ext cx="4480560" cy="3383280"/>
          </a:xfrm>
          <a:prstGeom prst="roundRect">
            <a:avLst>
              <a:gd name="adj" fmla="val 3243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36092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que guia este trabalho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269748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está estruturado o mercado brasileiro de Dados hoje, e o que isso muda nas decisões de contratação, capacitação e investimento em IA?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DADOS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edições consecutivas, mais de 14 mil respostas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14.005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analisadas ao todo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20116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474720" y="2286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200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edições da pesquisa (2023-24, 2024-25, 2025-26)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309360" y="2286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200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por edição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20116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B16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9144000" y="2286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C7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32004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usam IA generativa no trabalho (2025)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80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pesquisa State of Data Brazil (Data Hackers, em parceria com a Bain). As 3 últimas edições completas foram usadas — a edição "2025-2026" já está fechada (coleta em out-dez/2025), o nome reflete apenas o ano de publicação do relatório.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DADOS FORAM PROCESSADOS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planilha bruta ao insight executivo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B16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731520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7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CSVs brutos do Kaggle → S3 (Bronze)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587752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70632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6C7A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2862072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62072" y="2788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62072" y="3108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 (PySpark) unifica o schema entre os 3 anos → Silver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901184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B16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4992624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7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92624" y="2788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992624" y="3108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 gera tabelas por tema → Gold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031736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6C7A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7123176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23176" y="2788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23176" y="3108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/ Glue Notebook respondem as 7 perguntas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979408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162288" y="23774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B16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 txBox="1"/>
          <p:nvPr/>
        </p:nvSpPr>
        <p:spPr>
          <a:xfrm>
            <a:off x="9253728" y="24505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7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2788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53728" y="3108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 este material executivo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Bronze → Silver → Gold em S3, catalogadas no Glue Data Catalog e consultadas via Athena.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— DIAGRAMA DE ARQUITETURA (DRAW.IO)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completo, camada a camada</a:t>
            </a:r>
            <a:endParaRPr lang="en-US" sz="2000" dirty="0"/>
          </a:p>
        </p:txBody>
      </p:sp>
      <p:pic>
        <p:nvPicPr>
          <p:cNvPr id="4" name="Image 0" descr="diagrama_arquite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1234440"/>
            <a:ext cx="457200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1 — ESTRUTURA DO MERCADO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Analista de Dados lidera, mas o mercado é plural</a:t>
            </a:r>
            <a:endParaRPr lang="en-US" sz="2400" dirty="0"/>
          </a:p>
        </p:txBody>
      </p:sp>
      <p:pic>
        <p:nvPicPr>
          <p:cNvPr id="4" name="Image 0" descr="grafico_top_car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6766560" cy="40599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737360"/>
            <a:ext cx="3840480" cy="4059936"/>
          </a:xfrm>
          <a:prstGeom prst="roundRect">
            <a:avLst>
              <a:gd name="adj" fmla="val 2381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790956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46888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Dados (23,95%), Cientista de Dados (16,95%) e Engenheiro de Dados (16,07%) somam mais da metade do mercado em 2025.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a contratação de um time de dados começa por esses 3 perfis — o resto é complemento.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2 — PERFIS MAIS VALORIZADOS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novo topo de carreira surgiu no mercado em 2025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Júnior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20574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R$ 4.001 a R$ 6.000/mês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9718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R$ 8.001 a R$ 12.000/mês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914400" y="3886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Sênior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R$ 8.001 a R$ 12.000/mês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1B16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914400" y="4800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/ Staff+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48006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R$ 12.001 a R$ 16.000/mês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80960" y="192024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909560" y="2148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pesa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265176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primeira vez, a pesquisa registra a categoria "Especialista/Staff+" (14% dos respondentes em 2025) — sinal de que o mercado está formalizando trilhas técnicas sênior, não só de gestão.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reter talento experiente, oferecer esse caminho pode pesar mais do que promover para cargo de líder.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3 — DIVERSIDADE DE GÊNERO  •  PONTO DE ATENÇÃO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participação feminina está caindo, não estagnada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2441448"/>
            <a:ext cx="3794760" cy="0"/>
          </a:xfrm>
          <a:prstGeom prst="line">
            <a:avLst/>
          </a:prstGeom>
          <a:noFill/>
          <a:ln w="38100">
            <a:solidFill>
              <a:srgbClr val="6C7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080760" y="2377440"/>
            <a:ext cx="3794760" cy="1051560"/>
          </a:xfrm>
          <a:prstGeom prst="line">
            <a:avLst/>
          </a:prstGeom>
          <a:noFill/>
          <a:ln w="38100">
            <a:solidFill>
              <a:srgbClr val="6C7A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157984" y="2313432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463040" y="17556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23,37%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700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52744" y="2249424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525780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23,48%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747504" y="3300984"/>
            <a:ext cx="256032" cy="256032"/>
          </a:xfrm>
          <a:prstGeom prst="ellipse">
            <a:avLst/>
          </a:prstGeom>
          <a:solidFill>
            <a:srgbClr val="6C7A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905256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7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21,75%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46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e 2024 ficaram praticamente estáveis. A queda real aconteceu em 2025. O saldo do período ainda preocupa — mas o caminho até aqui não foi uma reta.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4 — TECNOLOGIAS MAIS ADOTADAS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é bilíngue: Python e SQL, sem terceiro concorrente</a:t>
            </a:r>
            <a:endParaRPr lang="en-US" sz="2300" dirty="0"/>
          </a:p>
        </p:txBody>
      </p:sp>
      <p:pic>
        <p:nvPicPr>
          <p:cNvPr id="4" name="Image 0" descr="grafico_linguag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6766560" cy="40599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737360"/>
            <a:ext cx="3840480" cy="4059936"/>
          </a:xfrm>
          <a:prstGeom prst="roundRect">
            <a:avLst>
              <a:gd name="adj" fmla="val 2381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790956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46888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(55,2%) e SQL (50,5%) dominam disparado. R aparece bem atrás (9,4%), e o restante das linguagens fica abaixo de 2%.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capacitação de equipe, o retorno mais alto está em Python + SQL — não em diversificar linguagens.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5 — ADOÇÃO DE INTELIGÊNCIA ARTIFICIAL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achado mais forte da base: o "não uso IA" praticamente sumiu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0350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grafico_adocao_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1680"/>
            <a:ext cx="557784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828800"/>
            <a:ext cx="4572000" cy="3931920"/>
          </a:xfrm>
          <a:prstGeom prst="roundRect">
            <a:avLst>
              <a:gd name="adj" fmla="val 2326"/>
            </a:avLst>
          </a:prstGeom>
          <a:solidFill>
            <a:srgbClr val="2E2E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7178040" y="21031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6C7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31089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profissionais já usam alguma solução de IA generativa no trabalho em 2025 (eram 80,5% em 2023)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42062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que ainda não capacitaram seus times em IA generativa não estão "na frente" — estão atrasadas em relação ao que já é padrão de mercado.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6 — DIFERENÇAS REGIONAIS E MODELO DE TRABALHO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Concentração no Sudeste, e o presencial está voltando</a:t>
            </a:r>
            <a:endParaRPr lang="en-US" sz="2400" dirty="0"/>
          </a:p>
        </p:txBody>
      </p:sp>
      <p:pic>
        <p:nvPicPr>
          <p:cNvPr id="4" name="Image 0" descr="grafico_regi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6035040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737360"/>
            <a:ext cx="4572000" cy="3877056"/>
          </a:xfrm>
          <a:prstGeom prst="roundRect">
            <a:avLst>
              <a:gd name="adj" fmla="val 2358"/>
            </a:avLst>
          </a:prstGeom>
          <a:solidFill>
            <a:srgbClr val="EEF0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717804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trabalho — reversão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24231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16,3% → 20,8%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31089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modelo 100% presencial entre 2024 e 2025 — na contramão da narrativa de home office definitivo.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429768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64,4% dos profissionais de dados estão no Sudeste — só 1,4% no Norte.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7 — OPORTUNIDADES E DESAFIOS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6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muda para quem vai investir em Dados e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6C7A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0080" y="194767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92024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em IA generativa não é diferencial, é básico — 98% do mercado já usa.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B16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640080" y="28163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88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788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de 64% no Sudeste limita o pool de talento fora dessa região.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1B164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640080" y="368503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657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6576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de gênero em queda ativa exige ação, não só monitoramento.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320040" cy="320040"/>
          </a:xfrm>
          <a:prstGeom prst="roundRect">
            <a:avLst>
              <a:gd name="adj" fmla="val 48571"/>
            </a:avLst>
          </a:prstGeom>
          <a:solidFill>
            <a:srgbClr val="6C7A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40080" y="45537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526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52628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de Especialista/Staff+ ajuda a reter sênior sem forçar caminho de gestão.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E2E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Aprofundar a pergunta 4 com o bloco completo de ferramentas (cloud, BI, orquestração)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Cruzar senioridade e região para recomendações de contratação mais finas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Acompanhar a edição 2026-2027 para validar se a tendência de queda de diversidade se confirma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E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discussões são bem-vindas.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577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github.com/Moacyrsouzab/fiap_analytics_postech_challenge3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993</Words>
  <Application>Microsoft Office PowerPoint</Application>
  <PresentationFormat>Widescreen</PresentationFormat>
  <Paragraphs>139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Moacyr Souza</cp:lastModifiedBy>
  <cp:revision>3</cp:revision>
  <dcterms:created xsi:type="dcterms:W3CDTF">2026-09-13T04:29:02Z</dcterms:created>
  <dcterms:modified xsi:type="dcterms:W3CDTF">2026-09-14T23:54:16Z</dcterms:modified>
</cp:coreProperties>
</file>